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LegalRisk AI</a:t>
            </a:r>
          </a:p>
          <a:p>
            <a:pPr>
              <a:spcBef>
                <a:spcPts val="1200"/>
              </a:spcBef>
              <a:defRPr sz="2200" b="1">
                <a:solidFill>
                  <a:srgbClr val="93C5FD"/>
                </a:solidFill>
              </a:defRPr>
            </a:pPr>
            <a:r>
              <a:t>AI-Powered Legal Clause Risk Detector with Explainable Risk Analysis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Automated contract screening, clause-level risk classification (High/Medium/Low), and transparent SHAP explanations before you 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24231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PRIMARY MODEL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Contracts-BERT Fine-Tuned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5120640"/>
            <a:ext cx="24231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BASELINE ENGINE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TF-IDF + Logistic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120640"/>
            <a:ext cx="24231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EXPLAINABILITY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SHAP + Rule-Based Heuristics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5120640"/>
            <a:ext cx="24231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DEPLOYMENT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Streamlit Cloud (Free 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01 • BACKGROUND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Practical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37160" cy="1325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'Fine Print' Legal Trap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Contracts (leases, employment, SaaS, vendor agreements) are dense, lengthy, and written in obscure legalese. Non-legal professionals often sign contracts without understanding severe liabilities.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37160" cy="1325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Asymmetric Risk Allocation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Unscrupulous agreements frequently bury one-sided indemnity, unilateral termination rights, uncapped damages, and unreasonable post-termination restrictive covenants that heavily disfavor signers.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37160" cy="13258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High Cost &amp; Delay of Manual Review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Hiring commercial attorneys costs $300-$1000/hr, with multi-day turnaround times—making routine pre-screening of standard agreements economically inaccessible for individuals and SMBs.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02 • MARKET &amp; LITERATURE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Systems &amp; Critical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Traditional Manual Legal Review</a:t>
            </a:r>
          </a:p>
          <a:p>
            <a:pPr>
              <a:spcBef>
                <a:spcPts val="400"/>
              </a:spcBef>
              <a:defRPr sz="1100" i="1">
                <a:solidFill>
                  <a:srgbClr val="64748B"/>
                </a:solidFill>
              </a:defRPr>
            </a:pPr>
            <a:r>
              <a:t>Human attorneys manually read agreements line-by-line.</a:t>
            </a:r>
          </a:p>
          <a:p>
            <a:pPr>
              <a:spcBef>
                <a:spcPts val="1400"/>
              </a:spcBef>
              <a:defRPr sz="1000" b="1">
                <a:solidFill>
                  <a:srgbClr val="EF4444"/>
                </a:solidFill>
              </a:defRPr>
            </a:pPr>
            <a:r>
              <a:t>CRITICAL LIMITATIONS: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Extremely high cost ($300-$1,000+ per hour)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Slow turnaround (2-5 business days average)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Inconsistent human fatigue &amp; overlooked details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Infeasible for high-volume routine screening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Keyword &amp; Rule-Based Regex Search</a:t>
            </a:r>
          </a:p>
          <a:p>
            <a:pPr>
              <a:spcBef>
                <a:spcPts val="400"/>
              </a:spcBef>
              <a:defRPr sz="1100" i="1">
                <a:solidFill>
                  <a:srgbClr val="64748B"/>
                </a:solidFill>
              </a:defRPr>
            </a:pPr>
            <a:r>
              <a:t>Basic regex or keyword search scripts looking for terms like 'indemnify'.</a:t>
            </a:r>
          </a:p>
          <a:p>
            <a:pPr>
              <a:spcBef>
                <a:spcPts val="1400"/>
              </a:spcBef>
              <a:defRPr sz="1000" b="1">
                <a:solidFill>
                  <a:srgbClr val="EF4444"/>
                </a:solidFill>
              </a:defRPr>
            </a:pPr>
            <a:r>
              <a:t>CRITICAL LIMITATIONS: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Brittle syntax matching; misses paraphrased clauses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Cannot parse negation ('shall not compete' vs 'non-exclusive')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Lacks contextual awareness of obligation severity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Produces high false-positive &amp; false-negative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Generic / Black-Box AI Classifiers</a:t>
            </a:r>
          </a:p>
          <a:p>
            <a:pPr>
              <a:spcBef>
                <a:spcPts val="400"/>
              </a:spcBef>
              <a:defRPr sz="1100" i="1">
                <a:solidFill>
                  <a:srgbClr val="64748B"/>
                </a:solidFill>
              </a:defRPr>
            </a:pPr>
            <a:r>
              <a:t>Generic LLMs or opaque black-box binary classifiers.</a:t>
            </a:r>
          </a:p>
          <a:p>
            <a:pPr>
              <a:spcBef>
                <a:spcPts val="1400"/>
              </a:spcBef>
              <a:defRPr sz="1000" b="1">
                <a:solidFill>
                  <a:srgbClr val="EF4444"/>
                </a:solidFill>
              </a:defRPr>
            </a:pPr>
            <a:r>
              <a:t>CRITICAL LIMITATIONS: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Binary classification only: outputs 'risky' or 'safe'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No granular clause-level risk ranking (High/Medium/Low)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Zero transparency / explainability (cannot explain WHY)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Prone to hallucinations with no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03 •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Our System: LegalRisk AI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9728" cy="10058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Automated PDF Segmentation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Extracts raw text via PyMuPDF and segments complex agreements into discrete legal clauses using regex boundary detection and NLP heuristics.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109728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Multi-Tier Risk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Classifies clauses into High, Medium, or Low risk tiers accompanied by individual confidence levels and a normalized 0-100 screening risk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337560"/>
            <a:ext cx="109728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2918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Transparent Explainable AI (SHAP)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Uses Shapley Additive Explanations (SHAP) to highlight the exact influential words and phrases driving the risk rating, eliminating the black-box dilemma.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546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3337560"/>
            <a:ext cx="109728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Contract-Level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Audits structural protections: flags missing liability caps, absent termination notices, and detects one-sided obligation imbalances ('who must do what').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109728" cy="10058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00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Dual-Engine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Provides state-of-the-art fine-tuned Contracts-BERT alongside an ultra-fast TF-IDF baseline and zero-model rule demo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6634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4846320"/>
            <a:ext cx="109728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00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Exportable Audit Reports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Generates publication-quality executive PDF reports with breakdown charts and structured CSV audit tables ready for legal counsel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04 • SYSTEM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Comparative Analysis: Existing Systems vs. LegalRisk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2834640"/>
                <a:gridCol w="29260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Manual Legal Review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Keyword / Regex Search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LegalRisk AI (Our System)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Screening Turnaround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Hours to Days (Manual bottleneck)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Milliseconds (Instant string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Under 10 Seconds (Full NLP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Cost per 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$300 - $1,500+ per document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Free (but high error costs)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Free / Low Cloud Compute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Classification Granularity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Binary or qualitative comments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Binary keyword 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Granular 3-Tier (Low / Medium / 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Explainability &amp; Transparency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Subjective notes without attribution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None (only prints matching 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Token-Level SHAP + Rule Heuristics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Semantic &amp; Contextual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High (but prone to fatigue/oversight)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None (fails on negation/synonyms)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High (Domain Transformer &amp; spaCy parsing)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Structural Protection Audit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Depends on lawyer diligence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Completely absent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Automated (flags missing caps, notice, etc.)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05 •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Ingestion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PDF Upload (PyMuPDF)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Text Extraction &amp; Sanitization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Encrypted &amp; image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Clause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Numbered section boundaries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ARTICLE &amp; CAPS headings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36 Legal category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NLP &amp; Linguistic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spaCy tokenization &amp; NER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Dependency parsing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Obligation detection ('who does what')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747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ML Classification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Contracts-BERT (Transformer)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Baseline: TF-IDF + Logistic Reg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Dynamic INT8 Quantization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3977639"/>
            <a:ext cx="3474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Explainability &amp;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5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SHAP term attribution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Deterministic risk rules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Contract-level observations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0" y="3977639"/>
            <a:ext cx="34747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Presentation &amp;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8055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Streamlit UI &amp; Visual Dashboard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Color-coded Document Viewer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Audit PDF &amp; CSV Report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06 • METHODOLOGY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Machine Learning &amp; NLP Techniques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Contracts-BERT (Primary Model)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Fine-tuned domain transformer (nlpaueb/bert-base-uncased-contracts) pre-trained on legal corpora.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Trained with AdamW optimizer, lr=2e-5, cross-entropy loss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Length-grouped batch sampling for 2x faster CPU training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Dynamic INT8 quantization reducing memory footprint to ~150MB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Outputs calibrated probabilities across Low, Medium,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TF-IDF + Logistic Regression (Baseline)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Classical high-efficiency baseline providing instant inference with zero GPU requirements.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Sublinear TF-IDF word &amp; n-gram feature representations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L2-regularized multinomial Logistic Regression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Extremely fast execution (~0.05 sec per document)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Tracked natively in repository (~2MB total model size)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799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spaCy &amp; NLTK Linguistic Processing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Deep grammatical and syntactic analysis beyond surface tokens.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Part-of-Speech (POS) tagging and Named Entity Recognition (NER)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Dependency parse trees extracting legal duty: (Agent -&gt; Modal -&gt; Action)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NLTK collocations and legal bigram frequency profiling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Identifies obligation imbalance ('5 of 6 obligations fall on Tenant')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799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Explainable AI (XAI) via SHAP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Model-agnostic interpretability calculating Shapley values for word attribution.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Exact feature contributions explaining risk prediction direction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Token-level color highlighting of high-risk terms in UI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Safe fallback to frequency-based indicator keywords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Delivers auditability required in legal-tech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07 •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Preparation &amp; Preprocessing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CUAD Benchmark Dataset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Source Corpus: </a:t>
            </a:r>
            <a:r>
              <a:rPr b="0">
                <a:solidFill>
                  <a:srgbClr val="64748B"/>
                </a:solidFill>
              </a:rPr>
              <a:t>Contract Understanding Atticus Dataset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Commercial Contracts: </a:t>
            </a:r>
            <a:r>
              <a:rPr b="0">
                <a:solidFill>
                  <a:srgbClr val="64748B"/>
                </a:solidFill>
              </a:rPr>
              <a:t>510 Commercial Agreements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Total Clause Spans: </a:t>
            </a:r>
            <a:r>
              <a:rPr b="0">
                <a:solidFill>
                  <a:srgbClr val="64748B"/>
                </a:solidFill>
              </a:rPr>
              <a:t>8,683 Annotated Clauses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Legal Categories: </a:t>
            </a:r>
            <a:r>
              <a:rPr b="0">
                <a:solidFill>
                  <a:srgbClr val="64748B"/>
                </a:solidFill>
              </a:rPr>
              <a:t>36 Standard Legal Types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Mean Span Length: </a:t>
            </a:r>
            <a:r>
              <a:rPr b="0">
                <a:solidFill>
                  <a:srgbClr val="64748B"/>
                </a:solidFill>
              </a:rPr>
              <a:t>384 Characters (Min 12, Max 4,218)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Train/Val/Test Split: </a:t>
            </a:r>
            <a:r>
              <a:rPr b="0">
                <a:solidFill>
                  <a:srgbClr val="64748B"/>
                </a:solidFill>
              </a:rPr>
              <a:t>70% / 15% / 15% (Contract-Level)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Data Leakage: </a:t>
            </a:r>
            <a:r>
              <a:rPr b="0">
                <a:solidFill>
                  <a:srgbClr val="64748B"/>
                </a:solidFill>
              </a:rPr>
              <a:t>0% (Strict contract separation)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5564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1. Dynamic Column Pairing &amp; Extraction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CUAD contains raw paired context and answer columns. The pipeline parses list literals, strips non-clause values (Yes/No), and preserves real clauses.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88920"/>
            <a:ext cx="6309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89864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2. Preserving Critical Legal Stop-Words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Standard NLP pipelines aggressively remove stop-words. LegalRisk AI preserves words like 'shall', 'not', 'unless', 'except', and 'must' as they define legal liability.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931920"/>
            <a:ext cx="6309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04164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3. Custom Multi-Tier Risk Annotation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Since CUAD lacks risk tiers, domain-driven heuristics categorize clauses into Low, Medium, and High based on liability scope, duration, and exclusivity penalties.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74920"/>
            <a:ext cx="6309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518464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4. Contract-Level Leakage-Free Splitting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Splits are performed strictly at the contract level (not clause level) to guarantee that clauses from the same contract never appear in both train and test splits.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08 • RISK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Scoring Methodology &amp; Decision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High Risk Tier (Weight: 1.0)</a:t>
            </a:r>
          </a:p>
          <a:p>
            <a:pPr>
              <a:spcBef>
                <a:spcPts val="400"/>
              </a:spcBef>
              <a:defRPr sz="1000" i="1">
                <a:solidFill>
                  <a:srgbClr val="64748B"/>
                </a:solidFill>
              </a:defRPr>
            </a:pPr>
            <a:r>
              <a:t>Clauses creating severe or asymmetric legal exposure: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Uncapped liability &amp; indemnification carveouts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Worldwide / multi-year non-compete covenants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Unilateral termination at will without notice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Excessive liquidated damages ($100k+)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19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Medium Risk Tier (Weight: 0.4)</a:t>
            </a:r>
          </a:p>
          <a:p>
            <a:pPr>
              <a:spcBef>
                <a:spcPts val="400"/>
              </a:spcBef>
              <a:defRPr sz="1000" i="1">
                <a:solidFill>
                  <a:srgbClr val="64748B"/>
                </a:solidFill>
              </a:defRPr>
            </a:pPr>
            <a:r>
              <a:t>Clauses requiring caution or negotiation: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Automatic renewal with narrow opt-out notice windows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Broad unannounced audit rights (48 hrs notice)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1-2 year non-solicitation of employees or clients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Short deliverable acceptance windows (&lt; 10 days)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19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Low Risk Tier (Weight: 0.0)</a:t>
            </a:r>
          </a:p>
          <a:p>
            <a:pPr>
              <a:spcBef>
                <a:spcPts val="400"/>
              </a:spcBef>
              <a:defRPr sz="1000" i="1">
                <a:solidFill>
                  <a:srgbClr val="64748B"/>
                </a:solidFill>
              </a:defRPr>
            </a:pPr>
            <a:r>
              <a:t>Standard commercial &amp; boilerplate provisions: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Standard governing law &amp; jurisdiction (Delaware, NY)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Severability, entire agreement, counterparts clauses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Standard net-30 invoicing &amp; statutory benefits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Mutual force majeure &amp; written notice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Mathematical Formulation for Contract Screening Risk (0 - 100):</a:t>
            </a:r>
          </a:p>
          <a:p>
            <a:pPr>
              <a:spcBef>
                <a:spcPts val="300"/>
              </a:spcBef>
              <a:defRPr sz="1150" b="1">
                <a:solidFill>
                  <a:srgbClr val="2563EB"/>
                </a:solidFill>
              </a:defRPr>
            </a:pPr>
            <a:r>
              <a:t>Clause Score = 100 × [ 1.0 × P(High) + 0.4 × P(Medium) + 0.0 × P(Low) ]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Overall Score = Mean of top clauses + penalty factors for missing caps, absent termination notices, or heavy obligation imbalance.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09 • RESULTS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Comparison &amp; Experimental Findings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116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Inference Speed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Footprint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Contracts-BERT (Primary Transformer)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</a:defRPr>
                      </a:pPr>
                      <a:r>
                        <a:t>93.4%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</a:defRPr>
                      </a:pPr>
                      <a:r>
                        <a:t>~0.18s / clause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</a:defRPr>
                      </a:pPr>
                      <a:r>
                        <a:t>418 MB (150MB INT8)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TF-IDF + Logistic Regression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88.7%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0.854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~0.005s / clause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1.9 MB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Word2Vec +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0.789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~0.012s / clause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</a:defRPr>
                      </a:pPr>
                      <a:r>
                        <a:t>12.4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9768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Contextual Superiority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Contracts-BERT achieves the highest Macro-F1 (0.912) due to legal self-attention that distinguishes between similar legal clauses with opposing obligations.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29768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CPU Optimization with INT8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Dynamic quantization compresses linear layer weights into INT8, maintaining 99.4% of FP32 precision while running smoothly on standard cloud CPU instances.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29768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Zero-Leakage Integrity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Validation conducted strictly across unseen contracts, ensuring performance metrics reflect real-world generalization rather than memorized clauses.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10 •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Application Interface &amp; User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Analyze Contract Page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Drag &amp; drop PDF upload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Engine selector: Contracts-BERT, Baseline, or Demo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Live 6-stage progress tracker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Interactive Risk Dashboard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0-100 Aggregate Risk Gauge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Risk distribution breakdown charts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Missing protection alerts (no caps, notice)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Clause Analysis &amp; Explanations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Filterable by High / Medium / Low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Plain-English risk reasons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Interactive SHAP token importance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Highlighted Document Viewer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Full reconstructed agreement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Color-coded inline risk highlighting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Jump to clause navigation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977639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Executive PDF Audit Reports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Professional multi-page PDF generation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Embedded Plotly risk charts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Lawyer-ready executive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0" y="3977639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CSV Audit Data Export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Machine-readable tabular export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Clause-by-clause classification &amp; confidence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Integration with enterprise legal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IMPACT &amp; FUTURE SCOPE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Empowering Non-Lawyers with Transparent Contract Screening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C5FD"/>
                </a:solidFill>
              </a:defRPr>
            </a:pPr>
            <a:r>
              <a:t>Key Project Achievements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End-to-end pipeline transforming raw contract PDFs into explainable risk assessments.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Fine-tuned domain transformer (Contracts-BERT) achieving 93.4% accuracy.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Transparent XAI via SHAP eliminating the legal black-box barrier.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Dynamic CPU quantization allowing free-tier cloud deployment.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Automated document-level auditing (missing caps, obligation imbalance).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Live on Streamlit Community Cloud with public GitHub Releases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49377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DE047"/>
                </a:solidFill>
              </a:defRPr>
            </a:pPr>
            <a:r>
              <a:t>Future Research &amp; Development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→ LLM-Assisted Redlining: Auto-generating fair replacement clauses for identified high-risk terms.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→ Multi-Jurisdiction Legal Adapters: Custom risk policies for US, UK, EU GDPR, and Indian contract law.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→ OCR Integration: Enabling scanned image PDF analysis via Tesseract/PaddleOCR.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→ Multi-Document Comparison: Cross-comparing vendor revisions against standard template baselines.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→ Enterprise API Integration: Exposing FastAPI endpoints for direct integration into procurement ERPs.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